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90" r:id="rId4"/>
    <p:sldId id="260" r:id="rId5"/>
    <p:sldId id="287" r:id="rId6"/>
    <p:sldId id="261" r:id="rId7"/>
    <p:sldId id="288" r:id="rId8"/>
    <p:sldId id="265" r:id="rId9"/>
    <p:sldId id="263" r:id="rId10"/>
    <p:sldId id="275" r:id="rId11"/>
    <p:sldId id="289" r:id="rId12"/>
    <p:sldId id="274" r:id="rId13"/>
    <p:sldId id="277" r:id="rId14"/>
    <p:sldId id="278" r:id="rId15"/>
    <p:sldId id="286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EBC8DE-2F06-5C12-EB24-6257663D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649B495-318C-6EA6-39DC-D3299A5E0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C600B18-A6BB-C08E-A738-E5352D45B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4239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67880E-3CD8-9F89-0433-0F436CA3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70CB7FA-28DB-A218-FC9F-15D9321F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FB3E8A-065B-3AC3-DFF9-440EAD53A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4599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E25A57D-AA3B-6132-DF87-33DF052B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AFCBF69-7F3B-6EE9-5D6B-A87D0C7C3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07BB218-DC2A-D8AF-7EDB-025F485E8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0318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69B8AAD-57EE-EC4B-82BE-C1AE73B5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16EDFFD-5F27-1F05-E99A-3DBAE693A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180B100-7951-266C-E263-2A619E3D1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3939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F50653-A274-5D56-DD54-E47867E42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504F893-7744-511D-8006-2762728D4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C71CDB9-E1B5-2AF7-2A00-1C0E1D9A2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2984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4F306F8-FA99-9918-E8E2-2945EDA4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DD8F20C-08B3-E63C-828E-596801D20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1A3AE8E-677D-CC23-974B-A91E18C0A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5461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B20FA41-43A4-22E4-3D87-E2B22CED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F525D1A-613F-DDCA-777A-5AE130692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AD6E19E-4012-98F9-DD72-9B6C98711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6679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04920D-82F3-FD26-A5CC-83862875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ADC5CA3-CA05-6600-1F78-35C1C5375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2C69F5B-F029-596A-8E9E-19302E2E2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2789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C1E92D1-EAB1-5161-28A9-6BC2628F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3BEC52A-1B4F-875B-9090-24348812A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E83F9AA-20E9-DAFC-66A1-49A01DD9D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169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F54EE3-4348-9D0C-CF5F-A78D3D53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2A92676-3340-41A1-2911-FB1830DE6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2491FB8-EDED-7919-B835-4E9E2544D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1394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6F78D9-4C96-C5A9-36EF-6C84307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EAA464B-042E-34B3-FBB8-583B48D2A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5F32535-E816-25DF-66A4-4CC44260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9108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297012B-CB47-4958-624F-B081DDC2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9784C63-BFC1-2DA8-DF28-268FAE867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113F8B-4C2F-8F0D-D4AA-BB11B2AB1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7421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bollapalli-vijaya-lakshm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Vijayalakshmibollapall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Object Detection using YOLOv8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78F7C-5025-5C63-317E-C9A4D02A51DB}"/>
              </a:ext>
            </a:extLst>
          </p:cNvPr>
          <p:cNvSpPr txBox="1"/>
          <p:nvPr/>
        </p:nvSpPr>
        <p:spPr>
          <a:xfrm>
            <a:off x="8694593" y="5291459"/>
            <a:ext cx="2470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42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Vijaya Lakshmi</a:t>
            </a:r>
          </a:p>
          <a:p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No: 460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7230" y="-702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US" sz="4000" b="1" i="1" u="sng" dirty="0">
                <a:solidFill>
                  <a:srgbClr val="FF0000"/>
                </a:solidFill>
              </a:rPr>
              <a:t>About Me</a:t>
            </a:r>
            <a:endParaRPr sz="40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38200" y="971556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 am a </a:t>
            </a:r>
            <a:r>
              <a:rPr lang="en-US" sz="2000" b="1" dirty="0"/>
              <a:t>recent postgraduate in Data Science</a:t>
            </a:r>
            <a:r>
              <a:rPr lang="en-US" sz="2000" dirty="0"/>
              <a:t> from </a:t>
            </a:r>
            <a:r>
              <a:rPr lang="en-US" sz="2000" b="1" dirty="0" err="1"/>
              <a:t>Bankatlal</a:t>
            </a:r>
            <a:r>
              <a:rPr lang="en-US" sz="2000" b="1" dirty="0"/>
              <a:t> </a:t>
            </a:r>
            <a:r>
              <a:rPr lang="en-US" sz="2000" b="1" dirty="0" err="1"/>
              <a:t>Badruka</a:t>
            </a:r>
            <a:r>
              <a:rPr lang="en-US" sz="2000" b="1" dirty="0"/>
              <a:t> College for Information Technology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 have a strong interest in </a:t>
            </a:r>
            <a:r>
              <a:rPr lang="en-US" sz="2000" b="1" dirty="0"/>
              <a:t>Data Analytics, Machine Learning, and Artificial Intelligence</a:t>
            </a:r>
            <a:r>
              <a:rPr lang="en-US" sz="2000" dirty="0"/>
              <a:t>, and I enjoy using </a:t>
            </a:r>
            <a:r>
              <a:rPr lang="en-US" sz="2000" b="1" dirty="0"/>
              <a:t>data-driven techniques to solve real-world business problems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 have experience working with tools and technologies such as </a:t>
            </a:r>
            <a:r>
              <a:rPr lang="en-US" sz="2000" b="1" dirty="0"/>
              <a:t>Python, SQL, data analysis libraries, and data visualization tools</a:t>
            </a:r>
            <a:r>
              <a:rPr lang="en-US" sz="2000" dirty="0"/>
              <a:t> to </a:t>
            </a:r>
            <a:r>
              <a:rPr lang="en-US" sz="2000" b="1" dirty="0"/>
              <a:t>analyze data, build models, and generate meaningful insights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LinkedIn: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www.linkedin.com/in/bollapalli-vijaya-lakshmi</a:t>
            </a:r>
            <a:endParaRPr lang="en-US" sz="2000" dirty="0"/>
          </a:p>
          <a:p>
            <a:pPr marL="114300" indent="0">
              <a:buNone/>
            </a:pPr>
            <a:endParaRPr lang="en-US" sz="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GitHub: </a:t>
            </a:r>
            <a:r>
              <a:rPr lang="en-IN" sz="2000" dirty="0" err="1">
                <a:hlinkClick r:id="rId4"/>
              </a:rPr>
              <a:t>Vijayalakshmibollapalli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87F7822-19A0-D583-3D65-3BD872A5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47C3651-263C-AA71-3CA6-C2F997428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7230" y="-702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i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9E77C24-CA39-3909-23EE-05B45C02F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79170" y="843737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indent="-457200"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open CV</a:t>
            </a:r>
            <a:endParaRPr lang="en-IN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82600" indent="-457200"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pPr marL="482600" indent="-457200"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</a:rPr>
              <a:t>CRISP-ML(Q)</a:t>
            </a:r>
            <a:endParaRPr lang="en-IN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</a:t>
            </a: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Helping in Real World</a:t>
            </a:r>
          </a:p>
          <a:p>
            <a:pPr indent="-431800">
              <a:buSzPts val="2400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lvl="0" indent="-431800">
              <a:buSzPts val="2400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Insights and Recommendations</a:t>
            </a:r>
          </a:p>
          <a:p>
            <a:pPr lvl="0" indent="-431800">
              <a:buSzPts val="2400"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1660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7D4628A-B3C8-48A0-EC14-EEAE5A55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F32FB12-DC9B-078A-2D00-6C092D754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06" y="376990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IN" sz="3600" b="1" i="1" u="sng" dirty="0">
                <a:solidFill>
                  <a:srgbClr val="FF0000"/>
                </a:solidFill>
              </a:rPr>
              <a:t>to OpenCV</a:t>
            </a:r>
            <a:endParaRPr sz="36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5DB0F24-8BE8-9A58-7DFB-580798848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222350"/>
            <a:ext cx="10515600" cy="499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(Open Source Computer Vision)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widely used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for image and video processing.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computers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and analyze visual information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images and videos.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widely used in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vision and artificial intelligence applications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provides built-in functions for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detection, face detection, image processing, and video analysis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is popular because it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fast, efficient, and easy to use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project, OpenCV is used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webcam video, process frames, and display detected objects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503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B9285A-0F35-DCB0-E1AD-C9BA7DA8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4D5FDAD-3B92-DE50-844A-CA7A921CF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635" y="406407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sz="36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349F490-39C4-6090-8CFD-CE2C1C7BA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381" y="1232185"/>
            <a:ext cx="10358854" cy="169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many places like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roads, offices, malls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important to identify objects such 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people, cars, and other items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Normally, people have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camera footage manually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find these objects, which can be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monitoring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sometimes lead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mistakes, missed detections, or slow responses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also difficult for humans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quickly identify multiple objects at the same time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images or videos.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Checking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number of images or video recordings manually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takes a lot of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and effort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businesses and organizations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automated system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can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objects from images or live camera video quickly and accurately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24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DCC52A-163A-DCCE-A725-2BCB225A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DA2180E-82D1-1A87-16DC-BF6ACFC09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566" y="235726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</a:rPr>
              <a:t>CRISP-ML(Q) Methodology</a:t>
            </a:r>
            <a:endParaRPr sz="36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75F207C-41A6-F2E2-E389-FB8D606529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834" y="1040383"/>
            <a:ext cx="9252856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r>
              <a:rPr lang="en-US" sz="2000" b="1" dirty="0"/>
              <a:t>CRISP-ML(Q)</a:t>
            </a:r>
            <a:r>
              <a:rPr lang="en-US" sz="2000" dirty="0"/>
              <a:t> is a framework used for machine learning project development.</a:t>
            </a:r>
            <a:endParaRPr lang="en-IN" sz="2000" b="1" dirty="0">
              <a:solidFill>
                <a:srgbClr val="FF0000"/>
              </a:solidFill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sz="2000" b="1" dirty="0"/>
              <a:t>Business and Data Understanding</a:t>
            </a:r>
            <a:br>
              <a:rPr lang="en-US" sz="2000" dirty="0"/>
            </a:br>
            <a:r>
              <a:rPr lang="en-US" sz="2000" dirty="0"/>
              <a:t>Identify the problem and understand the dataset. 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000" b="1" dirty="0"/>
              <a:t>Data Preparation</a:t>
            </a:r>
          </a:p>
          <a:p>
            <a:pPr marL="114300" indent="0">
              <a:buNone/>
            </a:pPr>
            <a:r>
              <a:rPr lang="en-US" sz="2000" b="1" dirty="0"/>
              <a:t>        </a:t>
            </a:r>
            <a:r>
              <a:rPr lang="en-US" sz="2000" dirty="0"/>
              <a:t>Clean and transform the data. </a:t>
            </a:r>
          </a:p>
          <a:p>
            <a:pPr marL="571500" indent="-457200">
              <a:buFont typeface="+mj-lt"/>
              <a:buAutoNum type="arabicPeriod" startAt="3"/>
            </a:pPr>
            <a:r>
              <a:rPr lang="en-US" sz="2000" b="1" dirty="0"/>
              <a:t>Modeling </a:t>
            </a:r>
            <a:r>
              <a:rPr lang="en-IN" sz="2000" b="1" dirty="0"/>
              <a:t>Learning</a:t>
            </a:r>
            <a:br>
              <a:rPr lang="en-US" sz="2000" dirty="0"/>
            </a:br>
            <a:r>
              <a:rPr lang="en-US" sz="2000" dirty="0"/>
              <a:t>Train the machine learning model. </a:t>
            </a:r>
          </a:p>
          <a:p>
            <a:pPr marL="571500" indent="-457200">
              <a:buFont typeface="+mj-lt"/>
              <a:buAutoNum type="arabicPeriod" startAt="4"/>
            </a:pPr>
            <a:r>
              <a:rPr lang="en-US" sz="2000" b="1" dirty="0"/>
              <a:t>Model Evaluation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IN" sz="2000" dirty="0"/>
              <a:t>Test the model performance. </a:t>
            </a:r>
            <a:endParaRPr lang="en-US" sz="2000" dirty="0"/>
          </a:p>
          <a:p>
            <a:pPr marL="571500" indent="-457200">
              <a:buFont typeface="+mj-lt"/>
              <a:buAutoNum type="arabicPeriod" startAt="5"/>
            </a:pPr>
            <a:r>
              <a:rPr lang="en-US" sz="2000" b="1" dirty="0"/>
              <a:t>Model Deployment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    Implement the model in a real system.</a:t>
            </a:r>
          </a:p>
          <a:p>
            <a:pPr marL="571500" indent="-457200">
              <a:buFont typeface="+mj-lt"/>
              <a:buAutoNum type="arabicPeriod" startAt="6"/>
            </a:pPr>
            <a:r>
              <a:rPr lang="en-US" sz="2000" b="1" dirty="0"/>
              <a:t>Monitoring &amp; Maintenance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    Continuously check and improve the model.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B397C3-BDE8-3389-F8D0-3C149FD4D7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" t="2826" r="5019" b="3491"/>
          <a:stretch>
            <a:fillRect/>
          </a:stretch>
        </p:blipFill>
        <p:spPr bwMode="auto">
          <a:xfrm>
            <a:off x="7534100" y="1638300"/>
            <a:ext cx="3943915" cy="3972839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8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3160D08-0950-4CBD-14FE-B963EB40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1B29B48-CCD9-67C6-B23A-5C2500ACED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566" y="235726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</a:rPr>
              <a:t>Tech Stack</a:t>
            </a:r>
            <a:endParaRPr sz="36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EE0597C-526C-9D41-47BD-ABD1FA35B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213" y="111745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Programming Language: </a:t>
            </a:r>
            <a:r>
              <a:rPr lang="en-IN" sz="2000" dirty="0"/>
              <a:t>Python</a:t>
            </a:r>
            <a:endParaRPr lang="en-IN" sz="100" b="1" dirty="0">
              <a:solidFill>
                <a:srgbClr val="FF0000"/>
              </a:solidFill>
            </a:endParaRP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Libraries:</a:t>
            </a:r>
            <a:endParaRPr lang="en-IN" sz="100" b="1" dirty="0">
              <a:solidFill>
                <a:srgbClr val="FF0000"/>
              </a:solidFill>
            </a:endParaRPr>
          </a:p>
          <a:p>
            <a:pPr marL="825500" lvl="1">
              <a:buClr>
                <a:srgbClr val="FF0000"/>
              </a:buClr>
              <a:buSzPts val="2400"/>
            </a:pPr>
            <a:r>
              <a:rPr lang="en-IN" sz="2000" dirty="0"/>
              <a:t>OpenCV</a:t>
            </a:r>
          </a:p>
          <a:p>
            <a:pPr marL="825500" lvl="1">
              <a:buClr>
                <a:srgbClr val="FF0000"/>
              </a:buClr>
              <a:buSzPts val="2400"/>
            </a:pPr>
            <a:r>
              <a:rPr lang="en-IN" sz="2000" dirty="0" err="1"/>
              <a:t>Ultralytics</a:t>
            </a:r>
            <a:endParaRPr lang="en-IN" sz="2000" dirty="0"/>
          </a:p>
          <a:p>
            <a:pPr marL="825500" lvl="1">
              <a:buClr>
                <a:srgbClr val="FF0000"/>
              </a:buClr>
              <a:buSzPts val="2400"/>
            </a:pPr>
            <a:r>
              <a:rPr lang="en-IN" sz="2000" dirty="0"/>
              <a:t>NumPy</a:t>
            </a:r>
          </a:p>
          <a:p>
            <a:pPr marL="825500" lvl="1">
              <a:buClr>
                <a:srgbClr val="FF0000"/>
              </a:buClr>
              <a:buSzPts val="2400"/>
            </a:pPr>
            <a:r>
              <a:rPr lang="en-IN" sz="2000" dirty="0"/>
              <a:t>Pillow</a:t>
            </a:r>
            <a:endParaRPr lang="en-US" sz="100" b="1" dirty="0">
              <a:solidFill>
                <a:srgbClr val="FF0000"/>
              </a:solidFill>
            </a:endParaRP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AI Model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lang="en-IN" sz="2000" dirty="0"/>
              <a:t>YOLOv8</a:t>
            </a: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Dataset used for training: </a:t>
            </a:r>
            <a:r>
              <a:rPr lang="en-IN" sz="2000" dirty="0"/>
              <a:t>COCO Dataset</a:t>
            </a: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Development Environment: </a:t>
            </a:r>
            <a:r>
              <a:rPr lang="en-IN" sz="2000" dirty="0" err="1"/>
              <a:t>Jupyter</a:t>
            </a:r>
            <a:r>
              <a:rPr lang="en-IN" sz="2000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05345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1AEBB70-327C-174D-CC3C-53815393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FFA44F-BC69-E794-10ED-8E5AA605AA6F}"/>
              </a:ext>
            </a:extLst>
          </p:cNvPr>
          <p:cNvSpPr txBox="1"/>
          <p:nvPr/>
        </p:nvSpPr>
        <p:spPr>
          <a:xfrm>
            <a:off x="3783867" y="5291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E33C8-C79F-382F-5596-A1E3AD792532}"/>
              </a:ext>
            </a:extLst>
          </p:cNvPr>
          <p:cNvSpPr txBox="1"/>
          <p:nvPr/>
        </p:nvSpPr>
        <p:spPr>
          <a:xfrm>
            <a:off x="838200" y="1339416"/>
            <a:ext cx="1046988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uses images and live webcam video as input.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model used in the project is trained on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COCO (Common Objects in Context)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data consists of image files and real-time video frames captured from the webcam.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Information: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COCO Dataset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thousands of labeled images with around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 different object categories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as person, car, chair, laptop, mobile phone, bottle, and many others.</a:t>
            </a:r>
          </a:p>
        </p:txBody>
      </p:sp>
    </p:spTree>
    <p:extLst>
      <p:ext uri="{BB962C8B-B14F-4D97-AF65-F5344CB8AC3E}">
        <p14:creationId xmlns:p14="http://schemas.microsoft.com/office/powerpoint/2010/main" val="183372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C4918B-009C-3C90-D346-21B4E663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9307A3A-B41D-EDDF-5001-AD9EBF08A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434" y="243619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US" sz="3600" b="1" i="1" u="sng" dirty="0">
                <a:solidFill>
                  <a:srgbClr val="FF0000"/>
                </a:solidFill>
              </a:rPr>
              <a:t>S</a:t>
            </a:r>
            <a:r>
              <a:rPr lang="en-IN" sz="3600" b="1" i="1" u="sng" dirty="0" err="1">
                <a:solidFill>
                  <a:srgbClr val="FF0000"/>
                </a:solidFill>
              </a:rPr>
              <a:t>ystem</a:t>
            </a:r>
            <a:r>
              <a:rPr lang="en-IN" sz="3600" b="1" i="1" u="sng" dirty="0">
                <a:solidFill>
                  <a:srgbClr val="FF0000"/>
                </a:solidFill>
              </a:rPr>
              <a:t> Architecture</a:t>
            </a:r>
            <a:endParaRPr sz="3600" b="1" i="1" u="sng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E2FCE-BDDD-5447-A9E4-90189526CF25}"/>
              </a:ext>
            </a:extLst>
          </p:cNvPr>
          <p:cNvSpPr txBox="1"/>
          <p:nvPr/>
        </p:nvSpPr>
        <p:spPr>
          <a:xfrm>
            <a:off x="786581" y="1284564"/>
            <a:ext cx="69873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/ Webcam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system receives input through images or live webcam video.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Capture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webcam captures real-time video frames.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Frames are processed using OpenCV.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YOLOv8 detects objects in each frame.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Classification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Detected objects are classified into categories like person, car, phone, chair, etc.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Bounding Box Generation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Boxes are drawn around detected objects.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Display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detected objects with labels are and confidence scores are displayed on the screen.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8F64BD-B16D-F2CB-07FB-4F1DCE1ABC6E}"/>
              </a:ext>
            </a:extLst>
          </p:cNvPr>
          <p:cNvSpPr/>
          <p:nvPr/>
        </p:nvSpPr>
        <p:spPr>
          <a:xfrm>
            <a:off x="8368714" y="726432"/>
            <a:ext cx="2887761" cy="4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/ Webcam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FF8F9D-1B3A-75A1-6241-DD61D54C5074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9812595" y="1159832"/>
            <a:ext cx="0" cy="314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84359F7-7A27-4751-529F-7BE8B04BD245}"/>
              </a:ext>
            </a:extLst>
          </p:cNvPr>
          <p:cNvSpPr/>
          <p:nvPr/>
        </p:nvSpPr>
        <p:spPr>
          <a:xfrm>
            <a:off x="8150943" y="1474567"/>
            <a:ext cx="3323304" cy="5166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Capture using OpenCV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ABBD2E-890A-71E7-8DEA-55ABE2E8DAA5}"/>
              </a:ext>
            </a:extLst>
          </p:cNvPr>
          <p:cNvCxnSpPr/>
          <p:nvPr/>
        </p:nvCxnSpPr>
        <p:spPr>
          <a:xfrm flipH="1">
            <a:off x="9802763" y="2011383"/>
            <a:ext cx="9832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17CB66B-FF22-3983-9C7A-B9F0458BC435}"/>
              </a:ext>
            </a:extLst>
          </p:cNvPr>
          <p:cNvSpPr/>
          <p:nvPr/>
        </p:nvSpPr>
        <p:spPr>
          <a:xfrm>
            <a:off x="8573731" y="2267653"/>
            <a:ext cx="2458064" cy="4068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5E3D52-68F2-FD80-AA22-45DBA44F3A7E}"/>
              </a:ext>
            </a:extLst>
          </p:cNvPr>
          <p:cNvCxnSpPr/>
          <p:nvPr/>
        </p:nvCxnSpPr>
        <p:spPr>
          <a:xfrm flipH="1">
            <a:off x="9792931" y="2706027"/>
            <a:ext cx="9832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D309584-9BF1-1084-4319-8A2ECF4099DC}"/>
              </a:ext>
            </a:extLst>
          </p:cNvPr>
          <p:cNvSpPr/>
          <p:nvPr/>
        </p:nvSpPr>
        <p:spPr>
          <a:xfrm>
            <a:off x="8318822" y="2940763"/>
            <a:ext cx="2948217" cy="485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YOLOv8 Model Processing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34262A-38A1-4AFF-971F-DAE8B2B1A74B}"/>
              </a:ext>
            </a:extLst>
          </p:cNvPr>
          <p:cNvSpPr/>
          <p:nvPr/>
        </p:nvSpPr>
        <p:spPr>
          <a:xfrm>
            <a:off x="8780203" y="3721892"/>
            <a:ext cx="2045112" cy="5166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D25103-AA71-C6F3-EC8C-30CFC4538D14}"/>
              </a:ext>
            </a:extLst>
          </p:cNvPr>
          <p:cNvCxnSpPr/>
          <p:nvPr/>
        </p:nvCxnSpPr>
        <p:spPr>
          <a:xfrm flipH="1">
            <a:off x="9783099" y="3443890"/>
            <a:ext cx="9832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0837ED-9B70-F99D-237A-F25850229A7F}"/>
              </a:ext>
            </a:extLst>
          </p:cNvPr>
          <p:cNvSpPr/>
          <p:nvPr/>
        </p:nvSpPr>
        <p:spPr>
          <a:xfrm>
            <a:off x="8229599" y="4489252"/>
            <a:ext cx="3303642" cy="5166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Bounding Box + Label Display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2DCDC2-2FE6-28B5-9A51-EA2B188E6A5A}"/>
              </a:ext>
            </a:extLst>
          </p:cNvPr>
          <p:cNvCxnSpPr/>
          <p:nvPr/>
        </p:nvCxnSpPr>
        <p:spPr>
          <a:xfrm flipH="1">
            <a:off x="9773267" y="4250577"/>
            <a:ext cx="9832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AF59E2-10AF-EC93-11A6-D722C5AE96E1}"/>
              </a:ext>
            </a:extLst>
          </p:cNvPr>
          <p:cNvCxnSpPr/>
          <p:nvPr/>
        </p:nvCxnSpPr>
        <p:spPr>
          <a:xfrm flipH="1">
            <a:off x="9763435" y="5040400"/>
            <a:ext cx="9832" cy="24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406AF15-11B0-E4DC-19E4-8127154C0287}"/>
              </a:ext>
            </a:extLst>
          </p:cNvPr>
          <p:cNvSpPr/>
          <p:nvPr/>
        </p:nvSpPr>
        <p:spPr>
          <a:xfrm>
            <a:off x="8681883" y="5301327"/>
            <a:ext cx="2438402" cy="5166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Visualization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4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1AF87AF-4CEF-3B03-56A6-B876C86E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F233AC1-E71D-9DE5-5D51-5D959D505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Object Detection Accuracy</a:t>
            </a:r>
            <a:r>
              <a:rPr lang="en-US" sz="2000" dirty="0"/>
              <a:t> – Sometimes the system may detect objects incorrectly or confuse similar objects.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Lighting Conditions</a:t>
            </a:r>
            <a:r>
              <a:rPr lang="en-US" sz="2000" dirty="0"/>
              <a:t> – Poor or very bright lighting can affect how well objects are detected in images or video.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Camera Quality and Position</a:t>
            </a:r>
            <a:r>
              <a:rPr lang="en-US" sz="2000" dirty="0"/>
              <a:t> – Low camera quality or improper angle can reduce detection accuracy.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Multiple Objects Detection</a:t>
            </a:r>
            <a:r>
              <a:rPr lang="en-US" sz="2000" dirty="0"/>
              <a:t> – Detecting many objects at the same time can sometimes reduce performance.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Small Object Detection</a:t>
            </a:r>
            <a:r>
              <a:rPr lang="en-US" sz="2000" dirty="0"/>
              <a:t> – Small or partially visible objects were sometimes difficult to detect.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Real-Time Processing</a:t>
            </a:r>
            <a:r>
              <a:rPr lang="en-US" sz="2000" dirty="0"/>
              <a:t> – Maintaining fast detection speed during live video processing was challenging.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B461E-7B8D-734B-A973-0C88290C9732}"/>
              </a:ext>
            </a:extLst>
          </p:cNvPr>
          <p:cNvSpPr txBox="1"/>
          <p:nvPr/>
        </p:nvSpPr>
        <p:spPr>
          <a:xfrm>
            <a:off x="2840883" y="4235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71643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552DC4F-2D5E-7638-B6D5-C5A76074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88D213-2BDF-A09A-6779-3F1EFB34D561}"/>
              </a:ext>
            </a:extLst>
          </p:cNvPr>
          <p:cNvSpPr txBox="1"/>
          <p:nvPr/>
        </p:nvSpPr>
        <p:spPr>
          <a:xfrm>
            <a:off x="1892968" y="337281"/>
            <a:ext cx="824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Helping in Real World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8069F-0C82-38B6-C6A4-D1AB123147B2}"/>
              </a:ext>
            </a:extLst>
          </p:cNvPr>
          <p:cNvSpPr txBox="1"/>
          <p:nvPr/>
        </p:nvSpPr>
        <p:spPr>
          <a:xfrm>
            <a:off x="914400" y="1409018"/>
            <a:ext cx="870608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can automatically detect objects such as people, vehicles, and other items from images or live camera video.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reduces the need for people to continuously watch camera footage.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improves safety by quickly identifying objects in real time.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saves time and effort because it can detect many objects automatically.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organizations monitor large areas more easily and efficiently.</a:t>
            </a:r>
          </a:p>
          <a:p>
            <a:endParaRPr lang="en-US" sz="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system can be used in places like security surveillance, traffic monitoring, smart cities, malls, airports, and other public places.</a:t>
            </a:r>
          </a:p>
        </p:txBody>
      </p:sp>
    </p:spTree>
    <p:extLst>
      <p:ext uri="{BB962C8B-B14F-4D97-AF65-F5344CB8AC3E}">
        <p14:creationId xmlns:p14="http://schemas.microsoft.com/office/powerpoint/2010/main" val="262923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BE19DFF-728C-7E6E-62AC-B70FBA57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DC5361B-3083-8E3A-2059-D9A75DA5120C}"/>
              </a:ext>
            </a:extLst>
          </p:cNvPr>
          <p:cNvSpPr txBox="1"/>
          <p:nvPr/>
        </p:nvSpPr>
        <p:spPr>
          <a:xfrm>
            <a:off x="1892968" y="337281"/>
            <a:ext cx="824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en-IN" sz="3600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FC581-BB3E-AAB3-030A-47A2D6A8890D}"/>
              </a:ext>
            </a:extLst>
          </p:cNvPr>
          <p:cNvSpPr txBox="1"/>
          <p:nvPr/>
        </p:nvSpPr>
        <p:spPr>
          <a:xfrm>
            <a:off x="1379620" y="1409018"/>
            <a:ext cx="82408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surveillance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detect people or suspicious objects.</a:t>
            </a:r>
          </a:p>
          <a:p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monitoring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detecting vehicles on roads.</a:t>
            </a:r>
          </a:p>
          <a:p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used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cities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automated monitoring systems.</a:t>
            </a:r>
          </a:p>
          <a:p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places like malls, airports, and offices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safety.</a:t>
            </a:r>
          </a:p>
          <a:p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analyze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 and videos automatically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human monitoring.</a:t>
            </a:r>
          </a:p>
        </p:txBody>
      </p:sp>
    </p:spTree>
    <p:extLst>
      <p:ext uri="{BB962C8B-B14F-4D97-AF65-F5344CB8AC3E}">
        <p14:creationId xmlns:p14="http://schemas.microsoft.com/office/powerpoint/2010/main" val="375516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1A3C693-77E9-F8D3-4EDD-67BF540E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A0187A5-54EA-8E1E-A35A-08AB294EE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2506" y="1394344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Key insights:</a:t>
            </a:r>
          </a:p>
          <a:p>
            <a:pPr marL="114300" indent="0">
              <a:buNone/>
            </a:pPr>
            <a:endParaRPr lang="en-US" sz="200" b="1" u="sng" dirty="0">
              <a:solidFill>
                <a:srgbClr val="FF0000"/>
              </a:solidFill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object detection can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visual monitoring systems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detection improves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making speed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/>
              <a:t>Multiple objects can be detected </a:t>
            </a:r>
            <a:r>
              <a:rPr lang="en-US" sz="2000" b="1" dirty="0"/>
              <a:t>simultaneously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systems reduce human effort and errors.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r>
              <a:rPr lang="en-US" sz="20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accuracy by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the model with custom datasets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the system on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devices for real-time applications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the system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cameras and IoT devices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the model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detection speed and performance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project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tracking and alert features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CB26C-DA1F-2C5B-21B3-35E2B5429BA3}"/>
              </a:ext>
            </a:extLst>
          </p:cNvPr>
          <p:cNvSpPr txBox="1"/>
          <p:nvPr/>
        </p:nvSpPr>
        <p:spPr>
          <a:xfrm>
            <a:off x="1379621" y="492374"/>
            <a:ext cx="9304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98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04909-B8CA-7435-C9BD-67FCF353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0E42E8F-F1BB-E666-516A-3A504BC11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The project successfully implemented </a:t>
            </a:r>
            <a:r>
              <a:rPr lang="en-US" sz="2000" b="1" dirty="0"/>
              <a:t>real-time object detection</a:t>
            </a:r>
            <a:r>
              <a:rPr lang="en-US" sz="2000" dirty="0"/>
              <a:t> using </a:t>
            </a:r>
            <a:r>
              <a:rPr lang="en-US" sz="2000" b="1" dirty="0"/>
              <a:t>YOLOv8 and OpenCV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The system can detect objects from both </a:t>
            </a:r>
            <a:r>
              <a:rPr lang="en-US" sz="2000" b="1" dirty="0"/>
              <a:t>images and live webcam video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It can identify </a:t>
            </a:r>
            <a:r>
              <a:rPr lang="en-US" sz="2000" b="1" dirty="0"/>
              <a:t>multiple objects</a:t>
            </a:r>
            <a:r>
              <a:rPr lang="en-US" sz="2000" dirty="0"/>
              <a:t> such as </a:t>
            </a:r>
            <a:r>
              <a:rPr lang="en-US" sz="2000" b="1" dirty="0"/>
              <a:t>people, vehicles, phones, chairs, and other items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The project shows how </a:t>
            </a:r>
            <a:r>
              <a:rPr lang="en-US" sz="2000" b="1" dirty="0"/>
              <a:t>computer vision and Artificial Intelligence (AI)</a:t>
            </a:r>
            <a:r>
              <a:rPr lang="en-US" sz="2000" dirty="0"/>
              <a:t> can </a:t>
            </a:r>
            <a:r>
              <a:rPr lang="en-US" sz="2000" b="1" dirty="0"/>
              <a:t>automate object recognition tasks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The system helps </a:t>
            </a:r>
            <a:r>
              <a:rPr lang="en-US" sz="2000" b="1" dirty="0"/>
              <a:t>reduce manual monitoring</a:t>
            </a:r>
            <a:r>
              <a:rPr lang="en-US" sz="2000" dirty="0"/>
              <a:t> and </a:t>
            </a:r>
            <a:r>
              <a:rPr lang="en-US" sz="2000" b="1" dirty="0"/>
              <a:t>improves efficiency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It can be further used in areas like </a:t>
            </a:r>
            <a:r>
              <a:rPr lang="en-US" sz="2000" b="1" dirty="0"/>
              <a:t>security surveillance, traffic monitoring, smart cities, and public safety systems</a:t>
            </a:r>
            <a:r>
              <a:rPr lang="en-US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587C3-DC39-00AA-5C53-C5335E07A8D9}"/>
              </a:ext>
            </a:extLst>
          </p:cNvPr>
          <p:cNvSpPr txBox="1"/>
          <p:nvPr/>
        </p:nvSpPr>
        <p:spPr>
          <a:xfrm>
            <a:off x="2513831" y="423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6839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0DC1F-71CA-A4AB-C1F8-EF6B0D69A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00748"/>
            <a:ext cx="10515600" cy="306997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400" b="1" dirty="0">
                <a:solidFill>
                  <a:srgbClr val="FF0000"/>
                </a:solidFill>
              </a:rPr>
              <a:t>Q &amp; A</a:t>
            </a:r>
            <a:endParaRPr lang="en-IN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2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659559"/>
            <a:ext cx="462525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1124</Words>
  <Application>Microsoft Office PowerPoint</Application>
  <PresentationFormat>Widescreen</PresentationFormat>
  <Paragraphs>143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Wingdings</vt:lpstr>
      <vt:lpstr>Libre Baskerville</vt:lpstr>
      <vt:lpstr>Office Theme</vt:lpstr>
      <vt:lpstr>PowerPoint Presentation</vt:lpstr>
      <vt:lpstr>About Me</vt:lpstr>
      <vt:lpstr>Agenda</vt:lpstr>
      <vt:lpstr>Introduction to OpenCV</vt:lpstr>
      <vt:lpstr>Business Problem</vt:lpstr>
      <vt:lpstr>CRISP-ML(Q) Methodology</vt:lpstr>
      <vt:lpstr>Tech Stack</vt:lpstr>
      <vt:lpstr>PowerPoint Presentation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VIJAYA LAKSHMI BOLLAPALLI</cp:lastModifiedBy>
  <cp:revision>39</cp:revision>
  <dcterms:created xsi:type="dcterms:W3CDTF">2021-02-16T05:19:01Z</dcterms:created>
  <dcterms:modified xsi:type="dcterms:W3CDTF">2026-03-11T12:32:08Z</dcterms:modified>
</cp:coreProperties>
</file>